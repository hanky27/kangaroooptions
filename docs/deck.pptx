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6000" b="1">
                <a:solidFill>
                  <a:srgbClr val="E8ECF2"/>
                </a:solidFill>
                <a:latin typeface="Georgia"/>
              </a:rPr>
              <a:t>Kangaroo 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8A94A5"/>
                </a:solidFill>
                <a:latin typeface="Georgia"/>
              </a:rPr>
              <a:t>An options credit-spread grid on 25 instruments, and a model that may only take risk away.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108960"/>
            <a:ext cx="10698480" cy="9525"/>
          </a:xfrm>
          <a:prstGeom prst="rect">
            <a:avLst/>
          </a:prstGeom>
          <a:solidFill>
            <a:srgbClr val="24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383280"/>
            <a:ext cx="21396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8A94A5"/>
                </a:solidFill>
                <a:latin typeface="Consolas"/>
              </a:rPr>
              <a:t>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39312"/>
            <a:ext cx="21396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E8ECF2"/>
                </a:solidFill>
                <a:latin typeface="Consolas"/>
              </a:rPr>
              <a:t>100,000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71215" y="3383280"/>
            <a:ext cx="21396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8A94A5"/>
                </a:solidFill>
                <a:latin typeface="Consolas"/>
              </a:rPr>
              <a:t>EQUITY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71215" y="3639312"/>
            <a:ext cx="21396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E8ECF2"/>
                </a:solidFill>
                <a:latin typeface="Consolas"/>
              </a:rPr>
              <a:t>90,195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10912" y="3383280"/>
            <a:ext cx="21396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8A94A5"/>
                </a:solidFill>
                <a:latin typeface="Consolas"/>
              </a:rPr>
              <a:t>P&amp;L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10912" y="3639312"/>
            <a:ext cx="21396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E06A4E"/>
                </a:solidFill>
                <a:latin typeface="Consolas"/>
              </a:rPr>
              <a:t>-9,805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0607" y="3383280"/>
            <a:ext cx="21396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8A94A5"/>
                </a:solidFill>
                <a:latin typeface="Consolas"/>
              </a:rPr>
              <a:t>OPEN SPREADS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50607" y="3639312"/>
            <a:ext cx="21396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E8ECF2"/>
                </a:solidFill>
                <a:latin typeface="Consolas"/>
              </a:rPr>
              <a:t>51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90304" y="3383280"/>
            <a:ext cx="21396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8A94A5"/>
                </a:solidFill>
                <a:latin typeface="Consolas"/>
              </a:rPr>
              <a:t>FILLS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90304" y="3639312"/>
            <a:ext cx="21396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E8ECF2"/>
                </a:solidFill>
                <a:latin typeface="Consolas"/>
              </a:rPr>
              <a:t>506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5720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A94A5"/>
                </a:solidFill>
                <a:latin typeface="Georgia"/>
              </a:rPr>
              <a:t>Live sheet, republished every five minutes:  </a:t>
            </a:r>
            <a:r>
              <a:rPr sz="1500" b="1">
                <a:solidFill>
                  <a:srgbClr val="8AA6EF"/>
                </a:solidFill>
                <a:latin typeface="Consolas"/>
              </a:rPr>
              <a:t>hanky27.github.io/KangarooOptions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A5"/>
                </a:solidFill>
                <a:latin typeface="Consolas"/>
              </a:rPr>
              <a:t>Alpaca AI Trading Agents Hackathon  ·  paper account PA3S85G7JUS0  ·  every figure read back through the Alpaca CLI  ·  as of 2026-09-01 16:06 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8A94A5"/>
                </a:solidFill>
                <a:latin typeface="Consolas"/>
              </a:rPr>
              <a:t>THE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E8ECF2"/>
                </a:solidFill>
                <a:latin typeface="Georgia"/>
              </a:rPr>
              <a:t>No entry signal. The only judgement is how much.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783080"/>
            <a:ext cx="10698480" cy="9525"/>
          </a:xfrm>
          <a:prstGeom prst="rect">
            <a:avLst/>
          </a:prstGeom>
          <a:solidFill>
            <a:srgbClr val="24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4884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8AA6EF"/>
                </a:solidFill>
                <a:latin typeface="Georgia"/>
              </a:rPr>
              <a:t>Open.  </a:t>
            </a:r>
            <a:r>
              <a:rPr sz="1700" b="0">
                <a:solidFill>
                  <a:srgbClr val="E8ECF2"/>
                </a:solidFill>
                <a:latin typeface="Georgia"/>
              </a:rPr>
              <a:t>Sell one credit spread — put on the long side, call on the short side. Short strike nearest spot, wing at the first width that exists as a real strike.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01752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8AA6EF"/>
                </a:solidFill>
                <a:latin typeface="Georgia"/>
              </a:rPr>
              <a:t>Add.  </a:t>
            </a:r>
            <a:r>
              <a:rPr sz="1700" b="0">
                <a:solidFill>
                  <a:srgbClr val="E8ECF2"/>
                </a:solidFill>
                <a:latin typeface="Georgia"/>
              </a:rPr>
              <a:t>The underlying moves 1.2 % against the cluster → sell another, further out. Every further step needs 0.10 %. Each leg is 1.1× the last.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88620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8AA6EF"/>
                </a:solidFill>
                <a:latin typeface="Georgia"/>
              </a:rPr>
              <a:t>Close.  </a:t>
            </a:r>
            <a:r>
              <a:rPr sz="1700" b="0">
                <a:solidFill>
                  <a:srgbClr val="E8ECF2"/>
                </a:solidFill>
                <a:latin typeface="Georgia"/>
              </a:rPr>
              <a:t>On the AGGREGATE mark of the whole cluster, never a single leg. A losing first leg is carried by the credit of the ones behind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754879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8AA6EF"/>
                </a:solidFill>
                <a:latin typeface="Georgia"/>
              </a:rPr>
              <a:t>Stop adding.  </a:t>
            </a:r>
            <a:r>
              <a:rPr sz="1700" b="0">
                <a:solidFill>
                  <a:srgbClr val="E8ECF2"/>
                </a:solidFill>
                <a:latin typeface="Georgia"/>
              </a:rPr>
              <a:t>At 5 % adverse from the anchor. Nothing is closed — a grid that stops adding survives, a grid forced to reduce realises its loss.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8A94A5"/>
                </a:solidFill>
                <a:latin typeface="Georgia"/>
              </a:rPr>
              <a:t>The edge is not prediction. It is that a mean-reverting underlying only has to come back part of the way.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8A94A5"/>
                </a:solidFill>
                <a:latin typeface="Consolas"/>
              </a:rPr>
              <a:t>THE AI LOGIC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E8ECF2"/>
                </a:solidFill>
                <a:latin typeface="Georgia"/>
              </a:rPr>
              <a:t>The decision the code structurally cannot make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783080"/>
            <a:ext cx="10698480" cy="9525"/>
          </a:xfrm>
          <a:prstGeom prst="rect">
            <a:avLst/>
          </a:prstGeom>
          <a:solidFill>
            <a:srgbClr val="24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4884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8AA6EF"/>
                </a:solidFill>
                <a:latin typeface="Georgia"/>
              </a:rPr>
              <a:t>Blind.  </a:t>
            </a:r>
            <a:r>
              <a:rPr sz="1700" b="0">
                <a:solidFill>
                  <a:srgbClr val="E8ECF2"/>
                </a:solidFill>
                <a:latin typeface="Georgia"/>
              </a:rPr>
              <a:t>KangarooCore sees its own legs and nothing else. Every one of the 25 grids is right on its own terms.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01752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8AA6EF"/>
                </a:solidFill>
                <a:latin typeface="Georgia"/>
              </a:rPr>
              <a:t>The real risk.  </a:t>
            </a:r>
            <a:r>
              <a:rPr sz="1700" b="0">
                <a:solidFill>
                  <a:srgbClr val="E8ECF2"/>
                </a:solidFill>
                <a:latin typeface="Georgia"/>
              </a:rPr>
              <a:t>Not one bad instrument — MANY deep at once, each correctly following its rule, together consuming the margin any one of them needed to recover.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88620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8AA6EF"/>
                </a:solidFill>
                <a:latin typeface="Georgia"/>
              </a:rPr>
              <a:t>So.  </a:t>
            </a:r>
            <a:r>
              <a:rPr sz="1700" b="0">
                <a:solidFill>
                  <a:srgbClr val="E8ECF2"/>
                </a:solidFill>
                <a:latin typeface="Georgia"/>
              </a:rPr>
              <a:t>On every rebuy that matters, the model gets the WHOLE account: equity, cash, options buying power, maintenance margin, and all open clusters sorted by adverse move.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754879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8AA6EF"/>
                </a:solidFill>
                <a:latin typeface="Georgia"/>
              </a:rPr>
              <a:t>One question.  </a:t>
            </a:r>
            <a:r>
              <a:rPr sz="1700" b="0">
                <a:solidFill>
                  <a:srgbClr val="E8ECF2"/>
                </a:solidFill>
                <a:latin typeface="Georgia"/>
              </a:rPr>
              <a:t>May this cluster add the size it asked for, less, or none?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8521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A94A5"/>
                </a:solidFill>
                <a:latin typeface="Georgia"/>
              </a:rPr>
              <a:t>Asked only from leg 4, or below 40 % headroom. Routine rebuys never reach it — the token bill is proportional to the decisions that carry weight.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8A94A5"/>
                </a:solidFill>
                <a:latin typeface="Consolas"/>
              </a:rPr>
              <a:t>THE RISK GATE  ·  IN CODE, NOT IN THE PROMPT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E8ECF2"/>
                </a:solidFill>
                <a:latin typeface="Georgia"/>
              </a:rPr>
              <a:t>It can only take risk away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783080"/>
            <a:ext cx="10698480" cy="9525"/>
          </a:xfrm>
          <a:prstGeom prst="rect">
            <a:avLst/>
          </a:prstGeom>
          <a:solidFill>
            <a:srgbClr val="24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148840"/>
            <a:ext cx="10698480" cy="1415796"/>
          </a:xfrm>
          <a:prstGeom prst="rect">
            <a:avLst/>
          </a:prstGeom>
          <a:solidFill>
            <a:srgbClr val="141922"/>
          </a:solidFill>
          <a:ln>
            <a:solidFill>
              <a:srgbClr val="24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58568"/>
            <a:ext cx="10332720" cy="14157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500">
                <a:solidFill>
                  <a:srgbClr val="E8ECF2"/>
                </a:solidFill>
                <a:latin typeface="Consolas"/>
              </a:rPr>
              <a:t>if qty &gt; requested or qty &lt; 0:</a:t>
            </a:r>
          </a:p>
          <a:p>
            <a:pPr>
              <a:lnSpc>
                <a:spcPct val="125000"/>
              </a:lnSpc>
            </a:pPr>
            <a:r>
              <a:rPr sz="1500">
                <a:solidFill>
                  <a:srgbClr val="E8ECF2"/>
                </a:solidFill>
                <a:latin typeface="Consolas"/>
              </a:rPr>
              <a:t>    self.clamped += 1                 # a broken contract,</a:t>
            </a:r>
          </a:p>
          <a:p>
            <a:pPr>
              <a:lnSpc>
                <a:spcPct val="125000"/>
              </a:lnSpc>
            </a:pPr>
            <a:r>
              <a:rPr sz="1500">
                <a:solidFill>
                  <a:srgbClr val="E8ECF2"/>
                </a:solidFill>
                <a:latin typeface="Consolas"/>
              </a:rPr>
              <a:t>    source = 'clamped'                # not a judgement</a:t>
            </a:r>
          </a:p>
          <a:p>
            <a:pPr>
              <a:lnSpc>
                <a:spcPct val="125000"/>
              </a:lnSpc>
            </a:pPr>
            <a:r>
              <a:rPr sz="1500">
                <a:solidFill>
                  <a:srgbClr val="E8ECF2"/>
                </a:solidFill>
                <a:latin typeface="Consolas"/>
              </a:rPr>
              <a:t>    qty = max(0, min(qty, requested))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5661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Answers 50 to a request of 2?  </a:t>
            </a:r>
            <a:r>
              <a:rPr sz="1600" b="0">
                <a:solidFill>
                  <a:srgbClr val="E8ECF2"/>
                </a:solidFill>
                <a:latin typeface="Georgia"/>
              </a:rPr>
              <a:t>It gets 2, and the violation is counted.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133087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Answers prose, nothing, a negative?  </a:t>
            </a:r>
            <a:r>
              <a:rPr sz="1600" b="0">
                <a:solidFill>
                  <a:srgbClr val="E8ECF2"/>
                </a:solidFill>
                <a:latin typeface="Georgia"/>
              </a:rPr>
              <a:t>The request passes through untouched.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700016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No key, timeout, refusal?  </a:t>
            </a:r>
            <a:r>
              <a:rPr sz="1600" b="0">
                <a:solidFill>
                  <a:srgbClr val="E8ECF2"/>
                </a:solidFill>
                <a:latin typeface="Georgia"/>
              </a:rPr>
              <a:t>Logged, counted, and the grid proceeds with the size it asked for — failing OPEN.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A94A5"/>
                </a:solidFill>
                <a:latin typeface="Georgia"/>
              </a:rPr>
              <a:t>There is no path through risk_gate.py by which a model opens a position, enlarges one, picks a strike or moves a stop. The worst a hallucinating or compromised model can do is stop the grid from adding — which a constant already does.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8A94A5"/>
                </a:solidFill>
                <a:latin typeface="Consolas"/>
              </a:rPr>
              <a:t>LIVE, 2026-09-01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E8ECF2"/>
                </a:solidFill>
                <a:latin typeface="Georgia"/>
              </a:rPr>
              <a:t>Its first decision on the competition account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783080"/>
            <a:ext cx="10698480" cy="9525"/>
          </a:xfrm>
          <a:prstGeom prst="rect">
            <a:avLst/>
          </a:prstGeom>
          <a:solidFill>
            <a:srgbClr val="24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148840"/>
            <a:ext cx="10698480" cy="1250061"/>
          </a:xfrm>
          <a:prstGeom prst="rect">
            <a:avLst/>
          </a:prstGeom>
          <a:solidFill>
            <a:srgbClr val="141922"/>
          </a:solidFill>
          <a:ln>
            <a:solidFill>
              <a:srgbClr val="24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58568"/>
            <a:ext cx="10332720" cy="12500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700">
                <a:solidFill>
                  <a:srgbClr val="E8ECF2"/>
                </a:solidFill>
                <a:latin typeface="Consolas"/>
              </a:rPr>
              <a:t>GOOGL_long: RISK GATE [model] 2 -&gt; 1 (10124 ms):</a:t>
            </a:r>
          </a:p>
          <a:p>
            <a:pPr>
              <a:lnSpc>
                <a:spcPct val="125000"/>
              </a:lnSpc>
            </a:pPr>
            <a:r>
              <a:rPr sz="1700">
                <a:solidFill>
                  <a:srgbClr val="E8ECF2"/>
                </a:solidFill>
                <a:latin typeface="Consolas"/>
              </a:rPr>
              <a:t>Multiple clusters (AMZN, TSLA, GLD, SLV) already breached</a:t>
            </a:r>
          </a:p>
          <a:p>
            <a:pPr>
              <a:lnSpc>
                <a:spcPct val="125000"/>
              </a:lnSpc>
            </a:pPr>
            <a:r>
              <a:rPr sz="1700">
                <a:solidFill>
                  <a:srgbClr val="E8ECF2"/>
                </a:solidFill>
                <a:latin typeface="Consolas"/>
              </a:rPr>
              <a:t>5% adverse simultaneously; reduce to conserve shared margin.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88620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It halved the size.  </a:t>
            </a:r>
            <a:r>
              <a:rPr sz="1600" b="0">
                <a:solidFill>
                  <a:srgbClr val="E8ECF2"/>
                </a:solidFill>
                <a:latin typeface="Georgia"/>
              </a:rPr>
              <a:t>And justified it by naming four OTHER instruments.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489704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That is the whole argument.  </a:t>
            </a:r>
            <a:r>
              <a:rPr sz="1600" b="0">
                <a:solidFill>
                  <a:srgbClr val="E8ECF2"/>
                </a:solidFill>
                <a:latin typeface="Georgia"/>
              </a:rPr>
              <a:t>No single cluster's state machine can see AMZN, TSLA, GLD and SLV at once. A threshold cannot either.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09320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10.1 seconds.  </a:t>
            </a:r>
            <a:r>
              <a:rPr sz="1600" b="0">
                <a:solidFill>
                  <a:srgbClr val="E8ECF2"/>
                </a:solidFill>
                <a:latin typeface="Georgia"/>
              </a:rPr>
              <a:t>Measured 4.03 s before it went live; the real view carries all 25 clusters. Hence: at most three consults per poll.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8A94A5"/>
                </a:solidFill>
                <a:latin typeface="Consolas"/>
              </a:rPr>
              <a:t>ALPACA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E8ECF2"/>
                </a:solidFill>
                <a:latin typeface="Georgia"/>
              </a:rPr>
              <a:t>One binary, structured JSON, auditable from a log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783080"/>
            <a:ext cx="10698480" cy="9525"/>
          </a:xfrm>
          <a:prstGeom prst="rect">
            <a:avLst/>
          </a:prstGeom>
          <a:solidFill>
            <a:srgbClr val="24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4884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CLI only.  </a:t>
            </a:r>
            <a:r>
              <a:rPr sz="1600" b="0">
                <a:solidFill>
                  <a:srgbClr val="E8ECF2"/>
                </a:solidFill>
                <a:latin typeface="Georgia"/>
              </a:rPr>
              <a:t>the alpaca binary, pinned to v0.0.13. Not an SDK, not raw HTTP. Positions, clock, quotes, chains, orders, fills, portfolio history, account activities.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89864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Multi-leg limit orders.  </a:t>
            </a:r>
            <a:r>
              <a:rPr sz="1600" b="0">
                <a:solidFill>
                  <a:srgbClr val="E8ECF2"/>
                </a:solidFill>
                <a:latin typeface="Georgia"/>
              </a:rPr>
              <a:t>order_class mleg with a NEGATIVE limit price — that is how a credit is expressed. Both legs fill or neither does.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48456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Batched.  </a:t>
            </a:r>
            <a:r>
              <a:rPr sz="1600" b="0">
                <a:solidFill>
                  <a:srgbClr val="E8ECF2"/>
                </a:solidFill>
                <a:latin typeface="Georgia"/>
              </a:rPr>
              <a:t>Quotes for every instrument in one request per 100 symbols — the ceiling the endpoint enforces. Poll cost is near-constant in the instrument count.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398264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The broker is the authority.  </a:t>
            </a:r>
            <a:r>
              <a:rPr sz="1600" b="0">
                <a:solidFill>
                  <a:srgbClr val="E8ECF2"/>
                </a:solidFill>
                <a:latin typeface="Georgia"/>
              </a:rPr>
              <a:t>client_order_id carries instrument, cluster, leg and kind, so a close that filled while the agent was stopped is recovered on the next start.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14807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OS-level single-instance lock.  </a:t>
            </a:r>
            <a:r>
              <a:rPr sz="1600" b="0">
                <a:solidFill>
                  <a:srgbClr val="E8ECF2"/>
                </a:solidFill>
                <a:latin typeface="Georgia"/>
              </a:rPr>
              <a:t>A PID file survives a power cut. A kernel lock does not.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8A94A5"/>
                </a:solidFill>
                <a:latin typeface="Consolas"/>
              </a:rPr>
              <a:t>THE MEASUREMENT REGIME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E8ECF2"/>
                </a:solidFill>
                <a:latin typeface="Georgia"/>
              </a:rPr>
              <a:t>It has to add up, or nothing is published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783080"/>
            <a:ext cx="10698480" cy="9525"/>
          </a:xfrm>
          <a:prstGeom prst="rect">
            <a:avLst/>
          </a:prstGeom>
          <a:solidFill>
            <a:srgbClr val="24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148840"/>
            <a:ext cx="10698480" cy="1415796"/>
          </a:xfrm>
          <a:prstGeom prst="rect">
            <a:avLst/>
          </a:prstGeom>
          <a:solidFill>
            <a:srgbClr val="141922"/>
          </a:solidFill>
          <a:ln>
            <a:solidFill>
              <a:srgbClr val="24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58568"/>
            <a:ext cx="10332720" cy="14157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500">
                <a:solidFill>
                  <a:srgbClr val="E8ECF2"/>
                </a:solidFill>
                <a:latin typeface="Consolas"/>
              </a:rPr>
              <a:t>equity - start  =  realized + unrealized - fees + transfers</a:t>
            </a:r>
          </a:p>
          <a:p>
            <a:pPr>
              <a:lnSpc>
                <a:spcPct val="125000"/>
              </a:lnSpc>
            </a:pPr>
            <a:r>
              <a:rPr sz="1500">
                <a:solidFill>
                  <a:srgbClr val="E8ECF2"/>
                </a:solidFill>
                <a:latin typeface="Consolas"/>
              </a:rPr>
              <a:t/>
            </a:r>
          </a:p>
          <a:p>
            <a:pPr>
              <a:lnSpc>
                <a:spcPct val="125000"/>
              </a:lnSpc>
            </a:pPr>
            <a:r>
              <a:rPr sz="1500">
                <a:solidFill>
                  <a:srgbClr val="E8ECF2"/>
                </a:solidFill>
                <a:latin typeface="Consolas"/>
              </a:rPr>
              <a:t>   90,194.58 - 100,000   =  +2,168.00 -11,952.00 - 15.12 - 6.30</a:t>
            </a:r>
          </a:p>
          <a:p>
            <a:pPr>
              <a:lnSpc>
                <a:spcPct val="125000"/>
              </a:lnSpc>
            </a:pPr>
            <a:r>
              <a:rPr sz="1500">
                <a:solidFill>
                  <a:srgbClr val="E8ECF2"/>
                </a:solidFill>
                <a:latin typeface="Consolas"/>
              </a:rPr>
              <a:t>residual +0.0000 USD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947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Realized  </a:t>
            </a:r>
            <a:r>
              <a:rPr sz="1600" b="0">
                <a:solidFill>
                  <a:srgbClr val="E8ECF2"/>
                </a:solidFill>
                <a:latin typeface="Georgia"/>
              </a:rPr>
              <a:t>rebuilt fill by fill at average cost — not taken from a field.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36168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Fees  </a:t>
            </a:r>
            <a:r>
              <a:rPr sz="1600" b="0">
                <a:solidFill>
                  <a:srgbClr val="E8ECF2"/>
                </a:solidFill>
                <a:latin typeface="Georgia"/>
              </a:rPr>
              <a:t>summed from the account's own FEE bookings (298 of them), never from a rate.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928616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The curve  </a:t>
            </a:r>
            <a:r>
              <a:rPr sz="1600" b="0">
                <a:solidFill>
                  <a:srgbClr val="E8ECF2"/>
                </a:solidFill>
                <a:latin typeface="Georgia"/>
              </a:rPr>
              <a:t>assembled from days that each had to agree with the broker's own close. Days that did not are published as refused, with the numbers.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7150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A94A5"/>
                </a:solidFill>
                <a:latin typeface="Georgia"/>
              </a:rPr>
              <a:t>A published equity curve was once 100,000 above this account and showed a drawdown of -102,137.75 that never happened. That is why every level is now checked against a second reading before it is drawn.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8A94A5"/>
                </a:solidFill>
                <a:latin typeface="Consolas"/>
              </a:rPr>
              <a:t>DEVLOG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E8ECF2"/>
                </a:solidFill>
                <a:latin typeface="Georgia"/>
              </a:rPr>
              <a:t>Seven defects, each with its measurement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783080"/>
            <a:ext cx="10698480" cy="9525"/>
          </a:xfrm>
          <a:prstGeom prst="rect">
            <a:avLst/>
          </a:prstGeom>
          <a:solidFill>
            <a:srgbClr val="24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148840"/>
            <a:ext cx="10698480" cy="1857755"/>
          </a:xfrm>
          <a:prstGeom prst="rect">
            <a:avLst/>
          </a:prstGeom>
          <a:solidFill>
            <a:srgbClr val="141922"/>
          </a:solidFill>
          <a:ln>
            <a:solidFill>
              <a:srgbClr val="24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58568"/>
            <a:ext cx="10332720" cy="185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8A94A5"/>
                </a:solidFill>
                <a:latin typeface="Consolas"/>
              </a:rPr>
              <a:t>f9b7bc0  client_order_id must be unique          6 instruments, every poll</a:t>
            </a:r>
          </a:p>
          <a:p>
            <a:pPr>
              <a:lnSpc>
                <a:spcPct val="125000"/>
              </a:lnSpc>
            </a:pPr>
            <a:r>
              <a:rPr sz="1200">
                <a:solidFill>
                  <a:srgbClr val="8A94A5"/>
                </a:solidFill>
                <a:latin typeface="Consolas"/>
              </a:rPr>
              <a:t>ad109a5  wing selection diverged from the sim    TLT halted at 20/20</a:t>
            </a:r>
          </a:p>
          <a:p>
            <a:pPr>
              <a:lnSpc>
                <a:spcPct val="125000"/>
              </a:lnSpc>
            </a:pPr>
            <a:r>
              <a:rPr sz="1200">
                <a:solidFill>
                  <a:srgbClr val="8A94A5"/>
                </a:solidFill>
                <a:latin typeface="Consolas"/>
              </a:rPr>
              <a:t>5cac761  a rebuy stepped onto its own wing       422 position intent mismatch</a:t>
            </a:r>
          </a:p>
          <a:p>
            <a:pPr>
              <a:lnSpc>
                <a:spcPct val="125000"/>
              </a:lnSpc>
            </a:pPr>
            <a:r>
              <a:rPr sz="1200">
                <a:solidFill>
                  <a:srgbClr val="8A94A5"/>
                </a:solidFill>
                <a:latin typeface="Consolas"/>
              </a:rPr>
              <a:t>2477d66  three phantom clusters                  close filled 33-55 s before a stop</a:t>
            </a:r>
          </a:p>
          <a:p>
            <a:pPr>
              <a:lnSpc>
                <a:spcPct val="125000"/>
              </a:lnSpc>
            </a:pPr>
            <a:r>
              <a:rPr sz="1200">
                <a:solidFill>
                  <a:srgbClr val="8A94A5"/>
                </a:solidFill>
                <a:latin typeface="Consolas"/>
              </a:rPr>
              <a:t>8717fff  fees modelled, not read                 15.12 booked vs 7.75 assumed</a:t>
            </a:r>
          </a:p>
          <a:p>
            <a:pPr>
              <a:lnSpc>
                <a:spcPct val="125000"/>
              </a:lnSpc>
            </a:pPr>
            <a:r>
              <a:rPr sz="1200">
                <a:solidFill>
                  <a:srgbClr val="8A94A5"/>
                </a:solidFill>
                <a:latin typeface="Consolas"/>
              </a:rPr>
              <a:t>8717fff  the curve was not this account          -102,137.75 drawdown, 18 h public</a:t>
            </a:r>
          </a:p>
          <a:p>
            <a:pPr>
              <a:lnSpc>
                <a:spcPct val="125000"/>
              </a:lnSpc>
            </a:pPr>
            <a:r>
              <a:rPr sz="1200">
                <a:solidFill>
                  <a:srgbClr val="8A94A5"/>
                </a:solidFill>
                <a:latin typeface="Consolas"/>
              </a:rPr>
              <a:t>8a84e63  the batch had no size                   102 legs &gt; limit 100, 93 min down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34340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Every fix carries a regression test  </a:t>
            </a:r>
            <a:r>
              <a:rPr sz="1600" b="0">
                <a:solidFill>
                  <a:srgbClr val="E8ECF2"/>
                </a:solidFill>
                <a:latin typeface="Georgia"/>
              </a:rPr>
              <a:t>built from the account data behind it. 93 tests.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946904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The worst one was not a wrong number  </a:t>
            </a:r>
            <a:r>
              <a:rPr sz="1600" b="0">
                <a:solidFill>
                  <a:srgbClr val="E8ECF2"/>
                </a:solidFill>
                <a:latin typeface="Georgia"/>
              </a:rPr>
              <a:t>— it was 93 minutes of a trading agent silently not trading.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8A94A5"/>
                </a:solidFill>
                <a:latin typeface="Consolas"/>
              </a:rPr>
              <a:t>WHAT THE MEASURING FOUND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E8ECF2"/>
                </a:solidFill>
                <a:latin typeface="Georgia"/>
              </a:rPr>
              <a:t>The backtest never paid the bid/ask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783080"/>
            <a:ext cx="10698480" cy="9525"/>
          </a:xfrm>
          <a:prstGeom prst="rect">
            <a:avLst/>
          </a:prstGeom>
          <a:solidFill>
            <a:srgbClr val="24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148840"/>
            <a:ext cx="10698480" cy="1857756"/>
          </a:xfrm>
          <a:prstGeom prst="rect">
            <a:avLst/>
          </a:prstGeom>
          <a:solidFill>
            <a:srgbClr val="141922"/>
          </a:solidFill>
          <a:ln>
            <a:solidFill>
              <a:srgbClr val="24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58568"/>
            <a:ext cx="10332720" cy="18577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>
                <a:solidFill>
                  <a:srgbClr val="E8ECF2"/>
                </a:solidFill>
                <a:latin typeface="Consolas"/>
              </a:rPr>
              <a:t>SPY put grid, 2024-02..2026-08, one parameter changed:</a:t>
            </a:r>
          </a:p>
          <a:p>
            <a:pPr>
              <a:lnSpc>
                <a:spcPct val="125000"/>
              </a:lnSpc>
            </a:pPr>
            <a:r>
              <a:rPr sz="1400">
                <a:solidFill>
                  <a:srgbClr val="E8ECF2"/>
                </a:solidFill>
                <a:latin typeface="Consolas"/>
              </a:rPr>
              <a:t/>
            </a:r>
          </a:p>
          <a:p>
            <a:pPr>
              <a:lnSpc>
                <a:spcPct val="125000"/>
              </a:lnSpc>
            </a:pPr>
            <a:r>
              <a:rPr sz="1400">
                <a:solidFill>
                  <a:srgbClr val="E8ECF2"/>
                </a:solidFill>
                <a:latin typeface="Consolas"/>
              </a:rPr>
              <a:t>   cost per spread per execution      realized      drawdown</a:t>
            </a:r>
          </a:p>
          <a:p>
            <a:pPr>
              <a:lnSpc>
                <a:spcPct val="125000"/>
              </a:lnSpc>
            </a:pPr>
            <a:r>
              <a:rPr sz="1400">
                <a:solidFill>
                  <a:srgbClr val="E8ECF2"/>
                </a:solidFill>
                <a:latin typeface="Consolas"/>
              </a:rPr>
              <a:t>   0     &lt;- every published run       +2,850.00        -2,994</a:t>
            </a:r>
          </a:p>
          <a:p>
            <a:pPr>
              <a:lnSpc>
                <a:spcPct val="125000"/>
              </a:lnSpc>
            </a:pPr>
            <a:r>
              <a:rPr sz="1400">
                <a:solidFill>
                  <a:srgbClr val="E8ECF2"/>
                </a:solidFill>
                <a:latin typeface="Consolas"/>
              </a:rPr>
              <a:t>   17.00    median-based                -433.00        -3,716</a:t>
            </a:r>
          </a:p>
          <a:p>
            <a:pPr>
              <a:lnSpc>
                <a:spcPct val="125000"/>
              </a:lnSpc>
            </a:pPr>
            <a:r>
              <a:rPr sz="1400">
                <a:solidFill>
                  <a:srgbClr val="E8ECF2"/>
                </a:solidFill>
                <a:latin typeface="Consolas"/>
              </a:rPr>
              <a:t>   34.95    MEASURED on the live book -6,172.65        -7,024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6052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34.95 USD  </a:t>
            </a:r>
            <a:r>
              <a:rPr sz="1600" b="0">
                <a:solidFill>
                  <a:srgbClr val="E8ECF2"/>
                </a:solidFill>
                <a:latin typeface="Georgia"/>
              </a:rPr>
              <a:t>is half the bid/ask per spread, measured across 188 open legs. 69.89 round trip. Median quote width 4.9 % of mid.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1888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The whole published profit  </a:t>
            </a:r>
            <a:r>
              <a:rPr sz="1600" b="0">
                <a:solidFill>
                  <a:srgbClr val="E8ECF2"/>
                </a:solidFill>
                <a:latin typeface="Georgia"/>
              </a:rPr>
              <a:t>was smaller than the cost that was never charged. cost_usd now has no default anywhere — every tool refuses to start without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477256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And two fixes I proposed  </a:t>
            </a:r>
            <a:r>
              <a:rPr sz="1600" b="0">
                <a:solidFill>
                  <a:srgbClr val="E8ECF2"/>
                </a:solidFill>
                <a:latin typeface="Georgia"/>
              </a:rPr>
              <a:t>were refuted by their own tests. Both are in the log, with the tables that killed them.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8A94A5"/>
                </a:solidFill>
                <a:latin typeface="Consolas"/>
              </a:rPr>
              <a:t>WHAT IS HONEST ABOUT THIS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E8ECF2"/>
                </a:solidFill>
                <a:latin typeface="Georgia"/>
              </a:rPr>
              <a:t>The parts that are not finished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783080"/>
            <a:ext cx="10698480" cy="9525"/>
          </a:xfrm>
          <a:prstGeom prst="rect">
            <a:avLst/>
          </a:prstGeom>
          <a:solidFill>
            <a:srgbClr val="24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4884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Untuned.  </a:t>
            </a:r>
            <a:r>
              <a:rPr sz="1600" b="0">
                <a:solidFill>
                  <a:srgbClr val="E8ECF2"/>
                </a:solidFill>
                <a:latin typeface="Georgia"/>
              </a:rPr>
              <a:t>The grid parameters come from the author's cTrader Forex bot. They are not tuned for options, or for a one-week window.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5351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An unmeasured tail.  </a:t>
            </a:r>
            <a:r>
              <a:rPr sz="1600" b="0">
                <a:solidFill>
                  <a:srgbClr val="E8ECF2"/>
                </a:solidFill>
                <a:latin typeface="Georgia"/>
              </a:rPr>
              <a:t>Alpaca option data begins 2024-02 and holds no sustained bear market. The tail is bounded by construction — every position is a spread — but unmeasured.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58184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A martingale, deliberately.  </a:t>
            </a:r>
            <a:r>
              <a:rPr sz="1600" b="0">
                <a:solidFill>
                  <a:srgbClr val="E8ECF2"/>
                </a:solidFill>
                <a:latin typeface="Georgia"/>
              </a:rPr>
              <a:t>It adds into a losing position. That is the strategy, not a defect, and the drawdown on this page is what it looks like.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562856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The AI sizes only.  </a:t>
            </a:r>
            <a:r>
              <a:rPr sz="1600" b="0">
                <a:solidFill>
                  <a:srgbClr val="E8ECF2"/>
                </a:solidFill>
                <a:latin typeface="Georgia"/>
              </a:rPr>
              <a:t>Underlying choice and DTE/strike policy are still rules, not judgements.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486400"/>
            <a:ext cx="26746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8A94A5"/>
                </a:solidFill>
                <a:latin typeface="Consolas"/>
              </a:rPr>
              <a:t>EQUITY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742432"/>
            <a:ext cx="26746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E8ECF2"/>
                </a:solidFill>
                <a:latin typeface="Consolas"/>
              </a:rPr>
              <a:t>90,195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6139" y="5486400"/>
            <a:ext cx="26746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8A94A5"/>
                </a:solidFill>
                <a:latin typeface="Consolas"/>
              </a:rPr>
              <a:t>P&amp;L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06139" y="5742432"/>
            <a:ext cx="26746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E06A4E"/>
                </a:solidFill>
                <a:latin typeface="Consolas"/>
              </a:rPr>
              <a:t>-9,805  (-9.81 %)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59" y="5486400"/>
            <a:ext cx="26746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8A94A5"/>
                </a:solidFill>
                <a:latin typeface="Consolas"/>
              </a:rPr>
              <a:t>OPEN SPREADS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59" y="5742432"/>
            <a:ext cx="26746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E8ECF2"/>
                </a:solidFill>
                <a:latin typeface="Consolas"/>
              </a:rPr>
              <a:t>51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55380" y="5486400"/>
            <a:ext cx="26746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8A94A5"/>
                </a:solidFill>
                <a:latin typeface="Consolas"/>
              </a:rPr>
              <a:t>RESIDUAL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55380" y="5742432"/>
            <a:ext cx="26746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8AA6EF"/>
                </a:solidFill>
                <a:latin typeface="Consolas"/>
              </a:rPr>
              <a:t>+0.0000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10698480" cy="561670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5486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E8ECF2"/>
                </a:solidFill>
                <a:latin typeface="Georgia"/>
              </a:rPr>
              <a:t>Watch it trade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8AA6EF"/>
                </a:solidFill>
                <a:latin typeface="Consolas"/>
              </a:rPr>
              <a:t>hanky27.github.io/KangarooOptions</a:t>
            </a:r>
            <a:r>
              <a:rPr sz="1400" b="0">
                <a:solidFill>
                  <a:srgbClr val="8A94A5"/>
                </a:solidFill>
                <a:latin typeface="Consolas"/>
              </a:rPr>
              <a:t>   ·   github.com/Hanky27/KangarooOptions   ·   account PA3S85G7JUS0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